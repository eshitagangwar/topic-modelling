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7" r:id="rId2"/>
    <p:sldId id="258" r:id="rId3"/>
    <p:sldId id="259" r:id="rId4"/>
    <p:sldId id="260" r:id="rId5"/>
    <p:sldId id="262" r:id="rId6"/>
    <p:sldId id="265" r:id="rId7"/>
    <p:sldId id="273" r:id="rId8"/>
    <p:sldId id="268" r:id="rId9"/>
    <p:sldId id="272" r:id="rId10"/>
    <p:sldId id="261" r:id="rId11"/>
    <p:sldId id="270" r:id="rId12"/>
    <p:sldId id="281" r:id="rId13"/>
    <p:sldId id="267" r:id="rId14"/>
    <p:sldId id="274" r:id="rId15"/>
    <p:sldId id="275" r:id="rId16"/>
    <p:sldId id="276" r:id="rId17"/>
    <p:sldId id="277" r:id="rId18"/>
    <p:sldId id="278" r:id="rId19"/>
    <p:sldId id="280" r:id="rId20"/>
    <p:sldId id="282" r:id="rId21"/>
    <p:sldId id="284" r:id="rId22"/>
    <p:sldId id="279" r:id="rId23"/>
    <p:sldId id="283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211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04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6/8/2019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8070"/>
          <a:stretch/>
        </p:blipFill>
        <p:spPr>
          <a:xfrm>
            <a:off x="-3179" y="0"/>
            <a:ext cx="12195179" cy="685776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58528" y="3721253"/>
            <a:ext cx="6242050" cy="948454"/>
          </a:xfrm>
        </p:spPr>
        <p:txBody>
          <a:bodyPr anchor="b">
            <a:noAutofit/>
          </a:bodyPr>
          <a:lstStyle>
            <a:lvl1pPr>
              <a:defRPr lang="en-IN" sz="6000" kern="1200" dirty="0">
                <a:solidFill>
                  <a:prstClr val="white"/>
                </a:solidFill>
                <a:latin typeface="Poppins" panose="02000000000000000000" pitchFamily="2" charset="0"/>
                <a:ea typeface="+mn-ea"/>
                <a:cs typeface="Poppins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314481" y="0"/>
            <a:ext cx="3877519" cy="80906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866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6"/>
          <p:cNvGrpSpPr/>
          <p:nvPr userDrawn="1"/>
        </p:nvGrpSpPr>
        <p:grpSpPr>
          <a:xfrm>
            <a:off x="-7046" y="1"/>
            <a:ext cx="9347562" cy="6858000"/>
            <a:chOff x="-7046" y="8021"/>
            <a:chExt cx="9347562" cy="6849979"/>
          </a:xfrm>
        </p:grpSpPr>
        <p:sp>
          <p:nvSpPr>
            <p:cNvPr id="8" name="Rectangle 6"/>
            <p:cNvSpPr/>
            <p:nvPr/>
          </p:nvSpPr>
          <p:spPr>
            <a:xfrm>
              <a:off x="-7046" y="8021"/>
              <a:ext cx="9347562" cy="6849979"/>
            </a:xfrm>
            <a:custGeom>
              <a:avLst/>
              <a:gdLst>
                <a:gd name="connsiteX0" fmla="*/ 0 w 2229853"/>
                <a:gd name="connsiteY0" fmla="*/ 0 h 6858000"/>
                <a:gd name="connsiteX1" fmla="*/ 2229853 w 2229853"/>
                <a:gd name="connsiteY1" fmla="*/ 0 h 6858000"/>
                <a:gd name="connsiteX2" fmla="*/ 2229853 w 2229853"/>
                <a:gd name="connsiteY2" fmla="*/ 6858000 h 6858000"/>
                <a:gd name="connsiteX3" fmla="*/ 0 w 2229853"/>
                <a:gd name="connsiteY3" fmla="*/ 6858000 h 6858000"/>
                <a:gd name="connsiteX4" fmla="*/ 0 w 2229853"/>
                <a:gd name="connsiteY4" fmla="*/ 0 h 6858000"/>
                <a:gd name="connsiteX0" fmla="*/ 0 w 6489032"/>
                <a:gd name="connsiteY0" fmla="*/ 0 h 6858000"/>
                <a:gd name="connsiteX1" fmla="*/ 6489032 w 6489032"/>
                <a:gd name="connsiteY1" fmla="*/ 8021 h 6858000"/>
                <a:gd name="connsiteX2" fmla="*/ 2229853 w 6489032"/>
                <a:gd name="connsiteY2" fmla="*/ 6858000 h 6858000"/>
                <a:gd name="connsiteX3" fmla="*/ 0 w 6489032"/>
                <a:gd name="connsiteY3" fmla="*/ 6858000 h 6858000"/>
                <a:gd name="connsiteX4" fmla="*/ 0 w 6489032"/>
                <a:gd name="connsiteY4" fmla="*/ 0 h 6858000"/>
                <a:gd name="connsiteX0" fmla="*/ 0 w 6489032"/>
                <a:gd name="connsiteY0" fmla="*/ 0 h 6858000"/>
                <a:gd name="connsiteX1" fmla="*/ 6489032 w 6489032"/>
                <a:gd name="connsiteY1" fmla="*/ 8021 h 6858000"/>
                <a:gd name="connsiteX2" fmla="*/ 1090863 w 6489032"/>
                <a:gd name="connsiteY2" fmla="*/ 6833937 h 6858000"/>
                <a:gd name="connsiteX3" fmla="*/ 0 w 6489032"/>
                <a:gd name="connsiteY3" fmla="*/ 6858000 h 6858000"/>
                <a:gd name="connsiteX4" fmla="*/ 0 w 6489032"/>
                <a:gd name="connsiteY4" fmla="*/ 0 h 6858000"/>
                <a:gd name="connsiteX0" fmla="*/ 0 w 6489032"/>
                <a:gd name="connsiteY0" fmla="*/ 0 h 6858000"/>
                <a:gd name="connsiteX1" fmla="*/ 6489032 w 6489032"/>
                <a:gd name="connsiteY1" fmla="*/ 8021 h 6858000"/>
                <a:gd name="connsiteX2" fmla="*/ 1138990 w 6489032"/>
                <a:gd name="connsiteY2" fmla="*/ 6858000 h 6858000"/>
                <a:gd name="connsiteX3" fmla="*/ 0 w 6489032"/>
                <a:gd name="connsiteY3" fmla="*/ 6858000 h 6858000"/>
                <a:gd name="connsiteX4" fmla="*/ 0 w 6489032"/>
                <a:gd name="connsiteY4" fmla="*/ 0 h 6858000"/>
                <a:gd name="connsiteX0" fmla="*/ 2866768 w 9355800"/>
                <a:gd name="connsiteY0" fmla="*/ 0 h 6874475"/>
                <a:gd name="connsiteX1" fmla="*/ 9355800 w 9355800"/>
                <a:gd name="connsiteY1" fmla="*/ 8021 h 6874475"/>
                <a:gd name="connsiteX2" fmla="*/ 4005758 w 9355800"/>
                <a:gd name="connsiteY2" fmla="*/ 6858000 h 6874475"/>
                <a:gd name="connsiteX3" fmla="*/ 0 w 9355800"/>
                <a:gd name="connsiteY3" fmla="*/ 6874475 h 6874475"/>
                <a:gd name="connsiteX4" fmla="*/ 2866768 w 9355800"/>
                <a:gd name="connsiteY4" fmla="*/ 0 h 6874475"/>
                <a:gd name="connsiteX0" fmla="*/ 2866768 w 9355800"/>
                <a:gd name="connsiteY0" fmla="*/ 0 h 6858000"/>
                <a:gd name="connsiteX1" fmla="*/ 9355800 w 9355800"/>
                <a:gd name="connsiteY1" fmla="*/ 8021 h 6858000"/>
                <a:gd name="connsiteX2" fmla="*/ 4005758 w 9355800"/>
                <a:gd name="connsiteY2" fmla="*/ 6858000 h 6858000"/>
                <a:gd name="connsiteX3" fmla="*/ 0 w 9355800"/>
                <a:gd name="connsiteY3" fmla="*/ 6841524 h 6858000"/>
                <a:gd name="connsiteX4" fmla="*/ 2866768 w 9355800"/>
                <a:gd name="connsiteY4" fmla="*/ 0 h 6858000"/>
                <a:gd name="connsiteX0" fmla="*/ 2850292 w 9339324"/>
                <a:gd name="connsiteY0" fmla="*/ 0 h 6858000"/>
                <a:gd name="connsiteX1" fmla="*/ 9339324 w 9339324"/>
                <a:gd name="connsiteY1" fmla="*/ 8021 h 6858000"/>
                <a:gd name="connsiteX2" fmla="*/ 3989282 w 9339324"/>
                <a:gd name="connsiteY2" fmla="*/ 6858000 h 6858000"/>
                <a:gd name="connsiteX3" fmla="*/ 0 w 9339324"/>
                <a:gd name="connsiteY3" fmla="*/ 6849761 h 6858000"/>
                <a:gd name="connsiteX4" fmla="*/ 2850292 w 9339324"/>
                <a:gd name="connsiteY4" fmla="*/ 0 h 6858000"/>
                <a:gd name="connsiteX0" fmla="*/ 0 w 9339324"/>
                <a:gd name="connsiteY0" fmla="*/ 8455 h 6849979"/>
                <a:gd name="connsiteX1" fmla="*/ 9339324 w 9339324"/>
                <a:gd name="connsiteY1" fmla="*/ 0 h 6849979"/>
                <a:gd name="connsiteX2" fmla="*/ 3989282 w 9339324"/>
                <a:gd name="connsiteY2" fmla="*/ 6849979 h 6849979"/>
                <a:gd name="connsiteX3" fmla="*/ 0 w 9339324"/>
                <a:gd name="connsiteY3" fmla="*/ 6841740 h 6849979"/>
                <a:gd name="connsiteX4" fmla="*/ 0 w 9339324"/>
                <a:gd name="connsiteY4" fmla="*/ 8455 h 6849979"/>
                <a:gd name="connsiteX0" fmla="*/ 0 w 9347562"/>
                <a:gd name="connsiteY0" fmla="*/ 218 h 6849979"/>
                <a:gd name="connsiteX1" fmla="*/ 9347562 w 9347562"/>
                <a:gd name="connsiteY1" fmla="*/ 0 h 6849979"/>
                <a:gd name="connsiteX2" fmla="*/ 3997520 w 9347562"/>
                <a:gd name="connsiteY2" fmla="*/ 6849979 h 6849979"/>
                <a:gd name="connsiteX3" fmla="*/ 8238 w 9347562"/>
                <a:gd name="connsiteY3" fmla="*/ 6841740 h 6849979"/>
                <a:gd name="connsiteX4" fmla="*/ 0 w 9347562"/>
                <a:gd name="connsiteY4" fmla="*/ 218 h 6849979"/>
                <a:gd name="connsiteX0" fmla="*/ 0 w 9347562"/>
                <a:gd name="connsiteY0" fmla="*/ 218 h 6849979"/>
                <a:gd name="connsiteX1" fmla="*/ 9347562 w 9347562"/>
                <a:gd name="connsiteY1" fmla="*/ 0 h 6849979"/>
                <a:gd name="connsiteX2" fmla="*/ 3997520 w 9347562"/>
                <a:gd name="connsiteY2" fmla="*/ 6849979 h 6849979"/>
                <a:gd name="connsiteX3" fmla="*/ 8238 w 9347562"/>
                <a:gd name="connsiteY3" fmla="*/ 6849969 h 6849979"/>
                <a:gd name="connsiteX4" fmla="*/ 0 w 9347562"/>
                <a:gd name="connsiteY4" fmla="*/ 218 h 684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7562" h="6849979">
                  <a:moveTo>
                    <a:pt x="0" y="218"/>
                  </a:moveTo>
                  <a:lnTo>
                    <a:pt x="9347562" y="0"/>
                  </a:lnTo>
                  <a:lnTo>
                    <a:pt x="3997520" y="6849979"/>
                  </a:lnTo>
                  <a:lnTo>
                    <a:pt x="8238" y="6849969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chemeClr val="tx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845136" y="2466975"/>
              <a:ext cx="2695575" cy="3124200"/>
            </a:xfrm>
            <a:custGeom>
              <a:avLst/>
              <a:gdLst>
                <a:gd name="connsiteX0" fmla="*/ 2514600 w 2695575"/>
                <a:gd name="connsiteY0" fmla="*/ 0 h 3124200"/>
                <a:gd name="connsiteX1" fmla="*/ 2695575 w 2695575"/>
                <a:gd name="connsiteY1" fmla="*/ 19050 h 3124200"/>
                <a:gd name="connsiteX2" fmla="*/ 200025 w 2695575"/>
                <a:gd name="connsiteY2" fmla="*/ 3124200 h 3124200"/>
                <a:gd name="connsiteX3" fmla="*/ 0 w 2695575"/>
                <a:gd name="connsiteY3" fmla="*/ 3124200 h 3124200"/>
                <a:gd name="connsiteX4" fmla="*/ 2514600 w 2695575"/>
                <a:gd name="connsiteY4" fmla="*/ 0 h 312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5575" h="3124200">
                  <a:moveTo>
                    <a:pt x="2514600" y="0"/>
                  </a:moveTo>
                  <a:lnTo>
                    <a:pt x="2695575" y="19050"/>
                  </a:lnTo>
                  <a:lnTo>
                    <a:pt x="200025" y="3124200"/>
                  </a:lnTo>
                  <a:lnTo>
                    <a:pt x="0" y="3124200"/>
                  </a:lnTo>
                  <a:lnTo>
                    <a:pt x="2514600" y="0"/>
                  </a:lnTo>
                  <a:close/>
                </a:path>
              </a:pathLst>
            </a:custGeom>
            <a:gradFill>
              <a:gsLst>
                <a:gs pos="0">
                  <a:srgbClr val="E97225"/>
                </a:gs>
                <a:gs pos="100000">
                  <a:srgbClr val="E6592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03981" y="488139"/>
            <a:ext cx="3877519" cy="80906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503981" y="3297372"/>
            <a:ext cx="5495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prstClr val="white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="" xmlns:p14="http://schemas.microsoft.com/office/powerpoint/2010/main" val="329286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1899A70-3933-4DBF-90EF-BA548142E849}" type="datetimeFigureOut">
              <a:rPr lang="en-IN" smtClean="0"/>
              <a:pPr/>
              <a:t>08-06-2019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00C0149-F25E-4258-9874-E37679DDFFC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57399" y="2848093"/>
            <a:ext cx="6242050" cy="94845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/>
            </a:r>
            <a:br>
              <a:rPr lang="en-IN" dirty="0" smtClean="0">
                <a:solidFill>
                  <a:schemeClr val="tx1"/>
                </a:solidFill>
              </a:rPr>
            </a:br>
            <a:r>
              <a:rPr lang="en-IN" dirty="0" err="1" smtClean="0">
                <a:solidFill>
                  <a:schemeClr val="tx1"/>
                </a:solidFill>
              </a:rPr>
              <a:t>Eshita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 err="1" smtClean="0">
                <a:solidFill>
                  <a:schemeClr val="tx1"/>
                </a:solidFill>
              </a:rPr>
              <a:t>Gangwar</a:t>
            </a:r>
            <a:r>
              <a:rPr lang="en-IN" dirty="0" smtClean="0">
                <a:solidFill>
                  <a:schemeClr val="tx1"/>
                </a:solidFill>
              </a:rPr>
              <a:t/>
            </a:r>
            <a:br>
              <a:rPr lang="en-IN" dirty="0" smtClean="0">
                <a:solidFill>
                  <a:schemeClr val="tx1"/>
                </a:solidFill>
              </a:rPr>
            </a:br>
            <a:r>
              <a:rPr lang="en-IN" dirty="0" smtClean="0">
                <a:solidFill>
                  <a:schemeClr val="tx1"/>
                </a:solidFill>
              </a:rPr>
              <a:t>18125760021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2505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9166" y="1895429"/>
            <a:ext cx="47810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/>
              <a:t> Customer Care Email Topic Extraction</a:t>
            </a:r>
            <a:endParaRPr lang="en-IN" sz="4800" dirty="0"/>
          </a:p>
        </p:txBody>
      </p:sp>
      <p:sp>
        <p:nvSpPr>
          <p:cNvPr id="22530" name="AutoShape 2" descr="Image result for full inbox emai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32" name="AutoShape 4" descr="Image result for full inbox emai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Hey-and-Other-Great-Subject-Lines-ideal-for-Marketing-Em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3419" y="1949570"/>
            <a:ext cx="64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200" b="1" dirty="0" smtClean="0"/>
              <a:t>Customer Care Email Topic Extraction</a:t>
            </a:r>
            <a:endParaRPr lang="en-IN" sz="7200" dirty="0"/>
          </a:p>
        </p:txBody>
      </p:sp>
    </p:spTree>
    <p:extLst>
      <p:ext uri="{BB962C8B-B14F-4D97-AF65-F5344CB8AC3E}">
        <p14:creationId xmlns="" xmlns:p14="http://schemas.microsoft.com/office/powerpoint/2010/main" val="61636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1360" y="400596"/>
            <a:ext cx="49246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/>
              <a:t>Problem Statement</a:t>
            </a:r>
            <a:endParaRPr lang="en-IN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1123406" y="2055223"/>
            <a:ext cx="9631680" cy="3561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71451" y="1480457"/>
            <a:ext cx="8995955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Customer service centers are most crucial part of any </a:t>
            </a:r>
            <a:r>
              <a:rPr lang="en-US" sz="2800" dirty="0" smtClean="0"/>
              <a:t>company.</a:t>
            </a: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 Emails are the most popular means of business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 In order to efficiently and effectively utilize time, the customer service centers need to extract the relevant information from these emails.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Then they need organizing it and promptly respond to the customers accordingly.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2668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5453" y="418012"/>
            <a:ext cx="60219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/>
              <a:t>Business</a:t>
            </a:r>
            <a:r>
              <a:rPr lang="en-IN" sz="4000" dirty="0" smtClean="0"/>
              <a:t> Understanding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1306286" y="1750423"/>
            <a:ext cx="97361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dirty="0" smtClean="0"/>
              <a:t>The topic of emails is determined.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Text </a:t>
            </a:r>
            <a:r>
              <a:rPr lang="en-US" sz="2800" dirty="0" smtClean="0"/>
              <a:t>summarization is performed.</a:t>
            </a:r>
          </a:p>
          <a:p>
            <a:pPr marL="285750" indent="-285750"/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409106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5532" y="365761"/>
            <a:ext cx="49638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/>
              <a:t>Data Understanding</a:t>
            </a:r>
            <a:endParaRPr lang="en-IN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992777" y="1837509"/>
            <a:ext cx="9840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raw data is a 22.2 MB </a:t>
            </a:r>
            <a:r>
              <a:rPr lang="en-US" sz="2800" dirty="0" smtClean="0"/>
              <a:t>f</a:t>
            </a:r>
            <a:r>
              <a:rPr lang="en-US" sz="2800" dirty="0" smtClean="0"/>
              <a:t>ile.</a:t>
            </a: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 No specific desired labels for the topics.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We </a:t>
            </a:r>
            <a:r>
              <a:rPr lang="en-US" sz="2800" dirty="0"/>
              <a:t>would expect that if LDA works as intended, it would be able to separate out the topics with a similar structure to each discussion group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59664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2091" y="492034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/>
              <a:t> Dataset</a:t>
            </a:r>
            <a:endParaRPr lang="en-IN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871" y="2170612"/>
            <a:ext cx="7458075" cy="2133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7056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ord cloud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863306" y="2119689"/>
            <a:ext cx="8212347" cy="43932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3359" y="715993"/>
            <a:ext cx="84797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/>
              <a:t>Word cloud of  Data</a:t>
            </a:r>
            <a:endParaRPr lang="en-IN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0069" y="435429"/>
            <a:ext cx="5564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/>
              <a:t>Data Preparation</a:t>
            </a:r>
            <a:endParaRPr lang="en-IN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1045029" y="2229394"/>
            <a:ext cx="931817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Tokenising </a:t>
            </a:r>
            <a:r>
              <a:rPr lang="en-IN" sz="2800" dirty="0" smtClean="0"/>
              <a:t>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Removing </a:t>
            </a:r>
            <a:r>
              <a:rPr lang="en-IN" sz="2800" dirty="0" err="1"/>
              <a:t>stopwords</a:t>
            </a: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Lemmatisation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the dictionary and the corpus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</a:t>
            </a:r>
            <a:r>
              <a:rPr lang="en-IN" sz="2800" dirty="0" smtClean="0"/>
              <a:t>Dictionary</a:t>
            </a:r>
            <a:endParaRPr lang="en-IN" sz="2800" dirty="0"/>
          </a:p>
          <a:p>
            <a:r>
              <a:rPr lang="en-US" sz="2800" dirty="0" smtClean="0"/>
              <a:t>        </a:t>
            </a:r>
            <a:r>
              <a:rPr lang="en-IN" sz="2800" dirty="0" smtClean="0"/>
              <a:t>Corpus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</a:t>
            </a:r>
            <a:endParaRPr lang="en-IN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5731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83811" y="845389"/>
            <a:ext cx="306237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Tokens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172310" y="1756913"/>
            <a:ext cx="306237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Stop words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169434" y="2651185"/>
            <a:ext cx="306237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Lemmatization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183811" y="3579963"/>
            <a:ext cx="306237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Id2word </a:t>
            </a:r>
            <a:endParaRPr lang="en-IN" dirty="0"/>
          </a:p>
        </p:txBody>
      </p:sp>
      <p:cxnSp>
        <p:nvCxnSpPr>
          <p:cNvPr id="9" name="Straight Arrow Connector 8"/>
          <p:cNvCxnSpPr>
            <a:stCxn id="2" idx="2"/>
          </p:cNvCxnSpPr>
          <p:nvPr/>
        </p:nvCxnSpPr>
        <p:spPr>
          <a:xfrm rot="16200000" flipH="1">
            <a:off x="5570507" y="1567850"/>
            <a:ext cx="293299" cy="43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  <a:endCxn id="5" idx="0"/>
          </p:cNvCxnSpPr>
          <p:nvPr/>
        </p:nvCxnSpPr>
        <p:spPr>
          <a:xfrm rot="5400000">
            <a:off x="5543910" y="2491595"/>
            <a:ext cx="316303" cy="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6" idx="0"/>
          </p:cNvCxnSpPr>
          <p:nvPr/>
        </p:nvCxnSpPr>
        <p:spPr>
          <a:xfrm rot="16200000" flipH="1">
            <a:off x="5548941" y="3413904"/>
            <a:ext cx="310552" cy="21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7051" y="235132"/>
            <a:ext cx="2638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/>
              <a:t>Approach</a:t>
            </a:r>
            <a:endParaRPr lang="en-IN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1733006" y="1619794"/>
            <a:ext cx="83602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 Topic </a:t>
            </a:r>
            <a:r>
              <a:rPr lang="en-US" sz="2800" dirty="0"/>
              <a:t>Model can be defined as </a:t>
            </a:r>
            <a:r>
              <a:rPr lang="en-US" sz="2800" dirty="0" smtClean="0"/>
              <a:t>an</a:t>
            </a:r>
            <a:r>
              <a:rPr lang="en-US" sz="2800" dirty="0"/>
              <a:t> unsupervised technique to discover topics across various text documents. These topics are abstract in nature, i.e., words which are related to each other form a topic. </a:t>
            </a:r>
            <a:endParaRPr lang="en-IN" sz="2800" dirty="0"/>
          </a:p>
        </p:txBody>
      </p:sp>
      <p:pic>
        <p:nvPicPr>
          <p:cNvPr id="3074" name="Picture 2" descr="Image result for topic modelling 11 newsgroup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622" y="3428999"/>
            <a:ext cx="6667500" cy="3429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3535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topic modelling 11 newsgroup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755" y="4104499"/>
            <a:ext cx="5915025" cy="2438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52282" y="1694329"/>
            <a:ext cx="8875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documents made up of a distribution of topics, and the topics are represented by a distribution of words. </a:t>
            </a:r>
            <a:r>
              <a:rPr lang="en-US" sz="28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 LDA algorithm </a:t>
            </a:r>
            <a:r>
              <a:rPr lang="en-US" sz="2800" dirty="0"/>
              <a:t>assumes that combinations of topics and words, as well as the combinations of documents and </a:t>
            </a:r>
            <a:r>
              <a:rPr lang="en-US" sz="2800" dirty="0" smtClean="0"/>
              <a:t>topics.</a:t>
            </a:r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931459" y="268941"/>
            <a:ext cx="434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LDA </a:t>
            </a:r>
            <a:endParaRPr lang="en-IN" sz="4000" dirty="0"/>
          </a:p>
        </p:txBody>
      </p:sp>
    </p:spTree>
    <p:extLst>
      <p:ext uri="{BB962C8B-B14F-4D97-AF65-F5344CB8AC3E}">
        <p14:creationId xmlns="" xmlns:p14="http://schemas.microsoft.com/office/powerpoint/2010/main" val="3626161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 smtClean="0">
                <a:solidFill>
                  <a:schemeClr val="tx1"/>
                </a:solidFill>
                <a:latin typeface="+mn-lt"/>
              </a:rPr>
              <a:t>Text Rank Algorithm</a:t>
            </a:r>
            <a:endParaRPr lang="en-IN" sz="4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 smtClean="0"/>
              <a:t>Split the text into individual sentences</a:t>
            </a:r>
          </a:p>
          <a:p>
            <a:pPr lvl="0"/>
            <a:r>
              <a:rPr lang="en-IN" dirty="0" smtClean="0"/>
              <a:t>vector representation  for each and every sentence</a:t>
            </a:r>
          </a:p>
          <a:p>
            <a:pPr lvl="0"/>
            <a:r>
              <a:rPr lang="en-IN" dirty="0" smtClean="0"/>
              <a:t>Similarities between sentence vectors </a:t>
            </a:r>
          </a:p>
          <a:p>
            <a:pPr lvl="0"/>
            <a:r>
              <a:rPr lang="en-IN" dirty="0" smtClean="0"/>
              <a:t>The similarity matrix is then converted into a graph</a:t>
            </a:r>
          </a:p>
          <a:p>
            <a:pPr lvl="0"/>
            <a:r>
              <a:rPr lang="en-IN" dirty="0" smtClean="0"/>
              <a:t>A certain number of top-ranked sentences form the final summary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7980" y="0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/>
              <a:t>Data Visualisation</a:t>
            </a:r>
            <a:endParaRPr lang="en-IN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86" y="830997"/>
            <a:ext cx="10340787" cy="59626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881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044" y="1752218"/>
            <a:ext cx="4877911" cy="33535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30725" y="698740"/>
            <a:ext cx="7228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  Number of Document per topic</a:t>
            </a:r>
            <a:endParaRPr lang="en-IN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2620" cy="5471160"/>
          </a:xfrm>
          <a:prstGeom prst="rect">
            <a:avLst/>
          </a:prstGeom>
        </p:spPr>
      </p:pic>
      <p:pic>
        <p:nvPicPr>
          <p:cNvPr id="3" name="Picture 2" descr="p2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5559379" y="531967"/>
            <a:ext cx="5731510" cy="48279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16109" y="200373"/>
            <a:ext cx="5731510" cy="5146040"/>
          </a:xfrm>
          <a:prstGeom prst="rect">
            <a:avLst/>
          </a:prstGeom>
        </p:spPr>
      </p:pic>
      <p:pic>
        <p:nvPicPr>
          <p:cNvPr id="3" name="Picture 2" descr="p4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5593883" y="216511"/>
            <a:ext cx="5731510" cy="50965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5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3161233" y="814693"/>
            <a:ext cx="5731510" cy="50215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393293" y="1027047"/>
            <a:ext cx="5280660" cy="5011443"/>
          </a:xfrm>
          <a:prstGeom prst="rect">
            <a:avLst/>
          </a:prstGeom>
        </p:spPr>
      </p:pic>
      <p:pic>
        <p:nvPicPr>
          <p:cNvPr id="3" name="Picture 2" descr="w2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5676181" y="1107383"/>
            <a:ext cx="5750755" cy="4862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15064" y="284672"/>
            <a:ext cx="80484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400" dirty="0" smtClean="0"/>
              <a:t>Word cloud for each Topic                 </a:t>
            </a:r>
            <a:endParaRPr lang="en-IN" sz="4400" dirty="0" smtClean="0"/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0778" y="465827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/>
              <a:t>Key Results</a:t>
            </a:r>
            <a:endParaRPr lang="en-IN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828136" y="1742536"/>
            <a:ext cx="108692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(9,</a:t>
            </a:r>
            <a:endParaRPr lang="en-IN" dirty="0" smtClean="0"/>
          </a:p>
          <a:p>
            <a:r>
              <a:rPr lang="en-US" dirty="0" smtClean="0"/>
              <a:t>  '0.011*"organization" + 0.009*"wire" + 0.007*"image" + 0.007*"write" + '</a:t>
            </a:r>
            <a:endParaRPr lang="en-IN" dirty="0" smtClean="0"/>
          </a:p>
          <a:p>
            <a:r>
              <a:rPr lang="en-US" dirty="0" smtClean="0"/>
              <a:t>  '0.006*"post" + 0.006*"</a:t>
            </a:r>
            <a:r>
              <a:rPr lang="en-US" dirty="0" err="1" smtClean="0"/>
              <a:t>scsi</a:t>
            </a:r>
            <a:r>
              <a:rPr lang="en-US" dirty="0" smtClean="0"/>
              <a:t>" + 0.005*"nntp" + 0.005*"wiring" + '</a:t>
            </a:r>
            <a:endParaRPr lang="en-IN" dirty="0" smtClean="0"/>
          </a:p>
          <a:p>
            <a:r>
              <a:rPr lang="en-US" dirty="0" smtClean="0"/>
              <a:t>  '0.005*"system" + 0.005*"host"'),</a:t>
            </a:r>
            <a:endParaRPr lang="en-IN" dirty="0" smtClean="0"/>
          </a:p>
          <a:p>
            <a:r>
              <a:rPr lang="en-US" dirty="0" smtClean="0"/>
              <a:t> (10,</a:t>
            </a:r>
            <a:endParaRPr lang="en-IN" dirty="0" smtClean="0"/>
          </a:p>
          <a:p>
            <a:r>
              <a:rPr lang="en-US" dirty="0" smtClean="0"/>
              <a:t>  '0.020*"window" + 0.014*"drive" + 0.013*"organization" + 0.009*"problem" + '</a:t>
            </a:r>
            <a:endParaRPr lang="en-IN" dirty="0" smtClean="0"/>
          </a:p>
          <a:p>
            <a:r>
              <a:rPr lang="en-US" dirty="0" smtClean="0"/>
              <a:t>  '0.009*"disk" + 0.008*"post" + 0.008*"host" + 0.007*"write" + 0.007*"nntp" + '</a:t>
            </a:r>
            <a:endParaRPr lang="en-IN" dirty="0" smtClean="0"/>
          </a:p>
          <a:p>
            <a:r>
              <a:rPr lang="en-US" dirty="0" smtClean="0"/>
              <a:t>  '0.006*"university"'),</a:t>
            </a:r>
            <a:endParaRPr lang="en-IN" dirty="0" smtClean="0"/>
          </a:p>
          <a:p>
            <a:r>
              <a:rPr lang="en-US" dirty="0" smtClean="0"/>
              <a:t> (11,</a:t>
            </a:r>
            <a:endParaRPr lang="en-IN" dirty="0" smtClean="0"/>
          </a:p>
          <a:p>
            <a:r>
              <a:rPr lang="en-US" dirty="0" smtClean="0"/>
              <a:t>  '0.010*"president" + 0.009*"state" + 0.007*"government" + 0.006*"</a:t>
            </a:r>
            <a:r>
              <a:rPr lang="en-US" dirty="0" err="1" smtClean="0"/>
              <a:t>mr</a:t>
            </a:r>
            <a:r>
              <a:rPr lang="en-US" dirty="0" smtClean="0"/>
              <a:t>" + '</a:t>
            </a:r>
            <a:endParaRPr lang="en-IN" dirty="0" smtClean="0"/>
          </a:p>
          <a:p>
            <a:r>
              <a:rPr lang="en-US" dirty="0" smtClean="0"/>
              <a:t>  '0.006*"law" + 0.006*"</a:t>
            </a:r>
            <a:r>
              <a:rPr lang="en-US" dirty="0" err="1" smtClean="0"/>
              <a:t>american</a:t>
            </a:r>
            <a:r>
              <a:rPr lang="en-US" dirty="0" smtClean="0"/>
              <a:t>" + 0.005*"people" + 0.004*"write" + '</a:t>
            </a:r>
            <a:endParaRPr lang="en-IN" dirty="0" smtClean="0"/>
          </a:p>
          <a:p>
            <a:r>
              <a:rPr lang="en-US" dirty="0" smtClean="0"/>
              <a:t>  '0.004*"policy" + 0.004*"organization"'),</a:t>
            </a:r>
            <a:endParaRPr lang="en-IN" dirty="0" smtClean="0"/>
          </a:p>
          <a:p>
            <a:r>
              <a:rPr lang="en-US" dirty="0" smtClean="0"/>
              <a:t> (12,</a:t>
            </a:r>
            <a:endParaRPr lang="en-IN" dirty="0" smtClean="0"/>
          </a:p>
          <a:p>
            <a:r>
              <a:rPr lang="en-US" dirty="0" smtClean="0"/>
              <a:t>  '0.014*"organization" + 0.011*"post" + 0.009*"university" + 0.009*"host" + '</a:t>
            </a:r>
            <a:endParaRPr lang="en-IN" dirty="0" smtClean="0"/>
          </a:p>
          <a:p>
            <a:r>
              <a:rPr lang="en-US" dirty="0" smtClean="0"/>
              <a:t>  '0.009*"nntp" + 0.007*"mail" + 0.006*"game" + 0.006*"computer" + '</a:t>
            </a:r>
            <a:endParaRPr lang="en-IN" dirty="0" smtClean="0"/>
          </a:p>
          <a:p>
            <a:r>
              <a:rPr lang="en-US" dirty="0" smtClean="0"/>
              <a:t>  '0.006*"list" + 0.005*"write"')</a:t>
            </a:r>
            <a:endParaRPr lang="en-IN" dirty="0" smtClean="0"/>
          </a:p>
          <a:p>
            <a:r>
              <a:rPr lang="en-US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  <a:latin typeface="+mn-lt"/>
              </a:rPr>
              <a:t>Model Evaluation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Perplexity: </a:t>
            </a:r>
            <a:r>
              <a:rPr lang="en-US" dirty="0" smtClean="0"/>
              <a:t>Given a trained model, perplexity tries to measure how this model is surprised when it is given a new dataset. This is measured as the normalized log-likelihood of the held out test set. The lower the perplexity, the better the model</a:t>
            </a:r>
            <a:endParaRPr lang="en-IN" dirty="0" smtClean="0"/>
          </a:p>
          <a:p>
            <a:r>
              <a:rPr lang="en-IN" dirty="0" smtClean="0"/>
              <a:t>Coherence </a:t>
            </a:r>
            <a:r>
              <a:rPr lang="en-IN" dirty="0" smtClean="0"/>
              <a:t>Score:</a:t>
            </a:r>
            <a:r>
              <a:rPr lang="en-US" dirty="0" smtClean="0"/>
              <a:t>The </a:t>
            </a:r>
            <a:r>
              <a:rPr lang="en-US" dirty="0" smtClean="0"/>
              <a:t>coherence of a topic by measuring the degree of semantic similarity between its high scoring words. These measurements help distinguish between topics that are human interpretable and those that are artifacts of statistical </a:t>
            </a:r>
            <a:r>
              <a:rPr lang="en-US" dirty="0" smtClean="0"/>
              <a:t>inference</a:t>
            </a:r>
            <a:endParaRPr lang="en-IN" b="1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odel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36165" y="1526875"/>
            <a:ext cx="6547449" cy="4658265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8030" y="483079"/>
            <a:ext cx="7617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/>
              <a:t>Working Module</a:t>
            </a:r>
            <a:endParaRPr lang="en-IN" sz="4400" dirty="0"/>
          </a:p>
        </p:txBody>
      </p:sp>
      <p:pic>
        <p:nvPicPr>
          <p:cNvPr id="3" name="Picture 2" descr="last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233576" y="1679892"/>
            <a:ext cx="9929005" cy="4582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  <a:latin typeface="+mn-lt"/>
              </a:rPr>
              <a:t>Future Work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work can be extended by adding some functionality for the user, such as an interface, so the complaints can be arranged according to the priority.</a:t>
            </a:r>
          </a:p>
          <a:p>
            <a:r>
              <a:rPr lang="en-US" dirty="0" smtClean="0"/>
              <a:t> The emails at the customer service centers can be handled automatically reply. For this, templates can be created which will help to respond to distinctive types of emails appropriately.</a:t>
            </a:r>
          </a:p>
          <a:p>
            <a:r>
              <a:rPr lang="en-US" dirty="0" smtClean="0"/>
              <a:t> Also, in future more data analysis can be performed on the data derived from customer service centers as they can serve as data sources to analyze customer needs and future trends.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2548064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280</TotalTime>
  <Words>689</Words>
  <Application>Microsoft Office PowerPoint</Application>
  <PresentationFormat>Custom</PresentationFormat>
  <Paragraphs>70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Equity</vt:lpstr>
      <vt:lpstr> Eshita Gangwar 18125760021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Text Rank Algorithm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Model Evaluation</vt:lpstr>
      <vt:lpstr>Slide 21</vt:lpstr>
      <vt:lpstr>Slide 22</vt:lpstr>
      <vt:lpstr>Future Work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XXXXXX Roll no.XXXXXX</dc:title>
  <dc:creator>Mallikarjuna Doddamane [MaGE]</dc:creator>
  <cp:lastModifiedBy>HP</cp:lastModifiedBy>
  <cp:revision>29</cp:revision>
  <dcterms:created xsi:type="dcterms:W3CDTF">2018-02-05T13:42:06Z</dcterms:created>
  <dcterms:modified xsi:type="dcterms:W3CDTF">2019-06-08T02:27:45Z</dcterms:modified>
</cp:coreProperties>
</file>